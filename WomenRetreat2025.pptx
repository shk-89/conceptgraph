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4" r:id="rId4"/>
    <p:sldId id="263" r:id="rId5"/>
    <p:sldId id="264" r:id="rId6"/>
    <p:sldId id="262" r:id="rId7"/>
    <p:sldId id="260" r:id="rId8"/>
    <p:sldId id="259" r:id="rId9"/>
    <p:sldId id="265" r:id="rId10"/>
    <p:sldId id="266" r:id="rId11"/>
    <p:sldId id="257" r:id="rId12"/>
    <p:sldId id="267" r:id="rId13"/>
    <p:sldId id="268" r:id="rId14"/>
    <p:sldId id="271" r:id="rId15"/>
    <p:sldId id="272" r:id="rId16"/>
    <p:sldId id="270" r:id="rId17"/>
    <p:sldId id="27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9692" autoAdjust="0"/>
  </p:normalViewPr>
  <p:slideViewPr>
    <p:cSldViewPr snapToGrid="0">
      <p:cViewPr varScale="1">
        <p:scale>
          <a:sx n="42" d="100"/>
          <a:sy n="42" d="100"/>
        </p:scale>
        <p:origin x="16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141F4-22DF-4477-BE95-0AF6F9D802A5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7DDAF-D73D-431A-8D61-EB89F47F7B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258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Motivation (≈ 45 seconds)</a:t>
            </a:r>
          </a:p>
          <a:p>
            <a:r>
              <a:rPr lang="en-GB" dirty="0" smtClean="0"/>
              <a:t>Understanding visual scenes requires more than recognizing isolated objects.</a:t>
            </a:r>
            <a:br>
              <a:rPr lang="en-GB" dirty="0" smtClean="0"/>
            </a:br>
            <a:r>
              <a:rPr lang="en-GB" dirty="0" smtClean="0"/>
              <a:t>Humans naturally organize visual input into </a:t>
            </a:r>
            <a:r>
              <a:rPr lang="en-GB" b="1" dirty="0" smtClean="0"/>
              <a:t>objects, relations, and events</a:t>
            </a:r>
            <a:r>
              <a:rPr lang="en-GB" dirty="0" smtClean="0"/>
              <a:t>, and this organization strongly shapes </a:t>
            </a:r>
            <a:r>
              <a:rPr lang="en-GB" b="1" dirty="0" smtClean="0"/>
              <a:t>where and how we look</a:t>
            </a:r>
            <a:r>
              <a:rPr lang="en-GB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815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Motivation (≈ 45 seconds)</a:t>
            </a:r>
          </a:p>
          <a:p>
            <a:r>
              <a:rPr lang="en-GB" dirty="0" smtClean="0"/>
              <a:t>Understanding visual scenes requires more than recognizing isolated objects.</a:t>
            </a:r>
            <a:br>
              <a:rPr lang="en-GB" dirty="0" smtClean="0"/>
            </a:br>
            <a:r>
              <a:rPr lang="en-GB" dirty="0" smtClean="0"/>
              <a:t>Humans naturally organize visual input into </a:t>
            </a:r>
            <a:r>
              <a:rPr lang="en-GB" b="1" dirty="0" smtClean="0"/>
              <a:t>objects, relations, and events</a:t>
            </a:r>
            <a:r>
              <a:rPr lang="en-GB" dirty="0" smtClean="0"/>
              <a:t>, and this organization strongly shapes </a:t>
            </a:r>
            <a:r>
              <a:rPr lang="en-GB" b="1" dirty="0" smtClean="0"/>
              <a:t>where and how we look</a:t>
            </a:r>
            <a:r>
              <a:rPr lang="en-GB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535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Motivation (≈ 45 seconds)</a:t>
            </a:r>
          </a:p>
          <a:p>
            <a:r>
              <a:rPr lang="en-GB" dirty="0" smtClean="0"/>
              <a:t>Understanding visual scenes requires more than recognizing isolated objects.</a:t>
            </a:r>
            <a:br>
              <a:rPr lang="en-GB" dirty="0" smtClean="0"/>
            </a:br>
            <a:r>
              <a:rPr lang="en-GB" dirty="0" smtClean="0"/>
              <a:t>Humans naturally organize visual input into </a:t>
            </a:r>
            <a:r>
              <a:rPr lang="en-GB" b="1" dirty="0" smtClean="0"/>
              <a:t>objects, relations, and events</a:t>
            </a:r>
            <a:r>
              <a:rPr lang="en-GB" dirty="0" smtClean="0"/>
              <a:t>, and this organization strongly shapes </a:t>
            </a:r>
            <a:r>
              <a:rPr lang="en-GB" b="1" dirty="0" smtClean="0"/>
              <a:t>where and how we look</a:t>
            </a:r>
            <a:r>
              <a:rPr lang="en-GB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850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Motivation (≈ 45 seconds)</a:t>
            </a:r>
          </a:p>
          <a:p>
            <a:r>
              <a:rPr lang="en-GB" dirty="0" smtClean="0"/>
              <a:t>Understanding visual scenes requires more than recognizing isolated objects.</a:t>
            </a:r>
            <a:br>
              <a:rPr lang="en-GB" dirty="0" smtClean="0"/>
            </a:br>
            <a:r>
              <a:rPr lang="en-GB" dirty="0" smtClean="0"/>
              <a:t>Humans naturally organize visual input into </a:t>
            </a:r>
            <a:r>
              <a:rPr lang="en-GB" b="1" dirty="0" smtClean="0"/>
              <a:t>objects, relations, and events</a:t>
            </a:r>
            <a:r>
              <a:rPr lang="en-GB" dirty="0" smtClean="0"/>
              <a:t>, and this organization strongly shapes </a:t>
            </a:r>
            <a:r>
              <a:rPr lang="en-GB" b="1" dirty="0" smtClean="0"/>
              <a:t>where and how we look</a:t>
            </a:r>
            <a:r>
              <a:rPr lang="en-GB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846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 parallel, modern computer vision models aim to represent scenes using </a:t>
            </a:r>
            <a:r>
              <a:rPr lang="en-GB" b="1" dirty="0" smtClean="0"/>
              <a:t>scene graphs</a:t>
            </a:r>
            <a:r>
              <a:rPr lang="en-GB" dirty="0" smtClean="0"/>
              <a:t>, where objects are nodes and relations are edges.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137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However, it remains largely unclear:</a:t>
            </a:r>
          </a:p>
          <a:p>
            <a:r>
              <a:rPr lang="en-GB" b="1" dirty="0" smtClean="0"/>
              <a:t>To what extent do scene graph representations generated by computer vision models align with human visual attention patterns</a:t>
            </a:r>
          </a:p>
          <a:p>
            <a:r>
              <a:rPr lang="en-GB" dirty="0" smtClean="0"/>
              <a:t>This lab rotation investigates whether </a:t>
            </a:r>
            <a:r>
              <a:rPr lang="en-GB" b="1" dirty="0" smtClean="0"/>
              <a:t>predicted scene relations</a:t>
            </a:r>
            <a:r>
              <a:rPr lang="en-GB" dirty="0" smtClean="0"/>
              <a:t> reflect the way humans perceptually organize dynamic scenes—and whether this alignment can improve both </a:t>
            </a:r>
            <a:r>
              <a:rPr lang="en-GB" b="1" dirty="0" smtClean="0"/>
              <a:t>scene graph generation</a:t>
            </a:r>
            <a:r>
              <a:rPr lang="en-GB" dirty="0" smtClean="0"/>
              <a:t> and </a:t>
            </a:r>
            <a:r>
              <a:rPr lang="en-GB" b="1" dirty="0" smtClean="0"/>
              <a:t>human </a:t>
            </a:r>
            <a:r>
              <a:rPr lang="en-GB" b="1" dirty="0" err="1" smtClean="0"/>
              <a:t>scanpath</a:t>
            </a:r>
            <a:r>
              <a:rPr lang="en-GB" b="1" dirty="0" smtClean="0"/>
              <a:t> prediction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681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Background I: Scene Graphs as Structured Scene Representations</a:t>
            </a:r>
          </a:p>
          <a:p>
            <a:endParaRPr lang="en-GB" b="1" dirty="0" smtClean="0"/>
          </a:p>
          <a:p>
            <a:r>
              <a:rPr lang="en-GB" dirty="0" smtClean="0"/>
              <a:t>Scene graph generation models aim to move beyond pixel-level representations by explicitly encoding:</a:t>
            </a:r>
          </a:p>
          <a:p>
            <a:r>
              <a:rPr lang="en-GB" dirty="0" smtClean="0"/>
              <a:t>objects</a:t>
            </a:r>
          </a:p>
          <a:p>
            <a:r>
              <a:rPr lang="en-GB" dirty="0" smtClean="0"/>
              <a:t>their attributes</a:t>
            </a:r>
          </a:p>
          <a:p>
            <a:r>
              <a:rPr lang="en-GB" dirty="0" smtClean="0"/>
              <a:t>and relations between them</a:t>
            </a:r>
          </a:p>
          <a:p>
            <a:endParaRPr lang="en-GB" dirty="0" smtClean="0"/>
          </a:p>
          <a:p>
            <a:r>
              <a:rPr lang="en-GB" dirty="0" smtClean="0"/>
              <a:t>Recent work such as </a:t>
            </a:r>
            <a:r>
              <a:rPr lang="en-GB" b="1" dirty="0" err="1" smtClean="0"/>
              <a:t>ConceptGraphs</a:t>
            </a:r>
            <a:r>
              <a:rPr lang="en-GB" dirty="0" smtClean="0"/>
              <a:t> demonstrates that graph-based representations provide a </a:t>
            </a:r>
            <a:r>
              <a:rPr lang="en-GB" b="1" dirty="0" smtClean="0"/>
              <a:t>compact, semantically rich abstraction of visual scenes</a:t>
            </a:r>
            <a:r>
              <a:rPr lang="en-GB" dirty="0" smtClean="0"/>
              <a:t>, enabling spatial reasoning, language queries, and planning.</a:t>
            </a:r>
          </a:p>
          <a:p>
            <a:r>
              <a:rPr lang="en-GB" dirty="0" err="1" smtClean="0"/>
              <a:t>ConceptGraphs</a:t>
            </a:r>
            <a:r>
              <a:rPr lang="en-GB" dirty="0" smtClean="0"/>
              <a:t> show that scene understanding can be formulated as:</a:t>
            </a:r>
          </a:p>
          <a:p>
            <a:endParaRPr lang="en-GB" dirty="0" smtClean="0"/>
          </a:p>
          <a:p>
            <a:r>
              <a:rPr lang="en-GB" dirty="0" smtClean="0"/>
              <a:t>nodes: objects</a:t>
            </a:r>
          </a:p>
          <a:p>
            <a:r>
              <a:rPr lang="en-GB" dirty="0" smtClean="0"/>
              <a:t>edges: relations inferred from spatial and semantic cues</a:t>
            </a:r>
          </a:p>
          <a:p>
            <a:r>
              <a:rPr lang="en-GB" dirty="0" smtClean="0"/>
              <a:t>This provides a natural computational counterpart to </a:t>
            </a:r>
            <a:r>
              <a:rPr lang="en-GB" b="1" dirty="0" smtClean="0"/>
              <a:t>human perceptual organization</a:t>
            </a:r>
            <a:r>
              <a:rPr lang="en-GB" dirty="0" smtClean="0"/>
              <a:t>, which is also relational and object-</a:t>
            </a:r>
            <a:r>
              <a:rPr lang="en-GB" dirty="0" err="1" smtClean="0"/>
              <a:t>centered</a:t>
            </a:r>
            <a:r>
              <a:rPr lang="en-GB" dirty="0" smtClean="0"/>
              <a:t>.</a:t>
            </a:r>
          </a:p>
          <a:p>
            <a:r>
              <a:rPr lang="en-GB" dirty="0" smtClean="0"/>
              <a:t>However, these models are typically evaluated using </a:t>
            </a:r>
            <a:r>
              <a:rPr lang="en-GB" b="1" dirty="0" smtClean="0"/>
              <a:t>vision benchmarks</a:t>
            </a:r>
            <a:r>
              <a:rPr lang="en-GB" dirty="0" smtClean="0"/>
              <a:t>, not against </a:t>
            </a:r>
            <a:r>
              <a:rPr lang="en-GB" b="1" dirty="0" smtClean="0"/>
              <a:t>human attentional </a:t>
            </a:r>
            <a:r>
              <a:rPr lang="en-GB" b="1" dirty="0" err="1" smtClean="0"/>
              <a:t>behavior</a:t>
            </a:r>
            <a:endParaRPr lang="en-GB" dirty="0" smtClean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463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Background II: Object-Based and Graph-Based Attention</a:t>
            </a:r>
          </a:p>
          <a:p>
            <a:endParaRPr lang="en-GB" dirty="0" smtClean="0"/>
          </a:p>
          <a:p>
            <a:r>
              <a:rPr lang="en-GB" dirty="0" smtClean="0"/>
              <a:t>From the cognitive side, eye-tracking research suggests that gaze is not random nor purely stimulus-driven.</a:t>
            </a:r>
          </a:p>
          <a:p>
            <a:r>
              <a:rPr lang="en-GB" dirty="0" smtClean="0"/>
              <a:t>The </a:t>
            </a:r>
            <a:r>
              <a:rPr lang="en-GB" b="1" dirty="0" smtClean="0"/>
              <a:t>Attention Graph</a:t>
            </a:r>
            <a:r>
              <a:rPr lang="en-GB" dirty="0" smtClean="0"/>
              <a:t> framework proposes that:</a:t>
            </a:r>
          </a:p>
          <a:p>
            <a:endParaRPr lang="en-GB" dirty="0" smtClean="0"/>
          </a:p>
          <a:p>
            <a:r>
              <a:rPr lang="en-GB" dirty="0" smtClean="0"/>
              <a:t>gaze </a:t>
            </a:r>
            <a:r>
              <a:rPr lang="en-GB" dirty="0" err="1" smtClean="0"/>
              <a:t>behavior</a:t>
            </a:r>
            <a:r>
              <a:rPr lang="en-GB" dirty="0" smtClean="0"/>
              <a:t> can be represented as transitions between:</a:t>
            </a:r>
          </a:p>
          <a:p>
            <a:r>
              <a:rPr lang="en-GB" dirty="0" smtClean="0"/>
              <a:t>semantic objects</a:t>
            </a:r>
          </a:p>
          <a:p>
            <a:r>
              <a:rPr lang="en-GB" dirty="0" smtClean="0"/>
              <a:t>fixations cluster on objects</a:t>
            </a:r>
          </a:p>
          <a:p>
            <a:r>
              <a:rPr lang="en-GB" dirty="0" err="1" smtClean="0"/>
              <a:t>scanpaths</a:t>
            </a:r>
            <a:r>
              <a:rPr lang="en-GB" dirty="0" smtClean="0"/>
              <a:t> reflect structured movement on an object graph</a:t>
            </a:r>
          </a:p>
          <a:p>
            <a:r>
              <a:rPr lang="en-GB" dirty="0" smtClean="0"/>
              <a:t>By constructing graph-based representations of eye movements, Attention Graphs capture </a:t>
            </a:r>
            <a:r>
              <a:rPr lang="en-GB" b="1" dirty="0" smtClean="0"/>
              <a:t>common attentional structure across observers</a:t>
            </a:r>
            <a:r>
              <a:rPr lang="en-GB" dirty="0" smtClean="0"/>
              <a:t>, reducing noise inherent in raw gaze data</a:t>
            </a:r>
          </a:p>
          <a:p>
            <a:endParaRPr lang="en-GB" dirty="0" smtClean="0"/>
          </a:p>
          <a:p>
            <a:r>
              <a:rPr lang="en-GB" dirty="0" smtClean="0"/>
              <a:t>this suggests a natural bridge:</a:t>
            </a:r>
          </a:p>
          <a:p>
            <a:r>
              <a:rPr lang="en-GB" b="1" dirty="0" smtClean="0"/>
              <a:t>If humans attend to scenes via object graphs, then scene graph models may reflect attentional structure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777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4. Background III: Event Structure and Dynamic Scene Understanding (≈ 1 min)</a:t>
            </a:r>
          </a:p>
          <a:p>
            <a:r>
              <a:rPr lang="en-GB" dirty="0" smtClean="0"/>
              <a:t>Dynamic scenes introduce an additional layer of complexity: </a:t>
            </a:r>
            <a:r>
              <a:rPr lang="en-GB" b="1" dirty="0" smtClean="0"/>
              <a:t>time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 </a:t>
            </a:r>
            <a:r>
              <a:rPr lang="en-GB" i="1" dirty="0" smtClean="0"/>
              <a:t>Visual Verbs</a:t>
            </a:r>
            <a:r>
              <a:rPr lang="en-GB" dirty="0" smtClean="0"/>
              <a:t> framework demonstrates that humans spontaneously segment continuous motion into </a:t>
            </a:r>
            <a:r>
              <a:rPr lang="en-GB" b="1" dirty="0" smtClean="0"/>
              <a:t>discrete event types</a:t>
            </a:r>
            <a:r>
              <a:rPr lang="en-GB" dirty="0" smtClean="0"/>
              <a:t>, such as pouring, rolling, or bouncing—even when events are task-irrelevant.</a:t>
            </a:r>
          </a:p>
          <a:p>
            <a:r>
              <a:rPr lang="en-GB" dirty="0" smtClean="0"/>
              <a:t>These event categories:</a:t>
            </a:r>
          </a:p>
          <a:p>
            <a:endParaRPr lang="en-GB" dirty="0" smtClean="0"/>
          </a:p>
          <a:p>
            <a:r>
              <a:rPr lang="en-GB" dirty="0" smtClean="0"/>
              <a:t>influence visual working memory</a:t>
            </a:r>
          </a:p>
          <a:p>
            <a:r>
              <a:rPr lang="en-GB" dirty="0" smtClean="0"/>
              <a:t>shape perceptual sensitivity</a:t>
            </a:r>
          </a:p>
          <a:p>
            <a:r>
              <a:rPr lang="en-GB" dirty="0" smtClean="0"/>
              <a:t>and likely modulate gaze </a:t>
            </a:r>
            <a:r>
              <a:rPr lang="en-GB" dirty="0" err="1" smtClean="0"/>
              <a:t>behavior</a:t>
            </a:r>
            <a:r>
              <a:rPr lang="en-GB" dirty="0" smtClean="0"/>
              <a:t> over time</a:t>
            </a:r>
          </a:p>
          <a:p>
            <a:r>
              <a:rPr lang="en-GB" dirty="0" smtClean="0"/>
              <a:t>This implies that attention is guided not only by objects and relations, but also by </a:t>
            </a:r>
            <a:r>
              <a:rPr lang="en-GB" b="1" dirty="0" smtClean="0"/>
              <a:t>the type of event unfolding in the scene</a:t>
            </a:r>
            <a:r>
              <a:rPr lang="en-GB" dirty="0" smtClean="0"/>
              <a:t>.</a:t>
            </a:r>
          </a:p>
          <a:p>
            <a:r>
              <a:rPr lang="en-GB" dirty="0" smtClean="0"/>
              <a:t>Yet, event structure is largely absent from both scene graph evaluation and gaze prediction models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78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despite advances in both computer vision and cognitive science, three gaps remain:</a:t>
            </a:r>
          </a:p>
          <a:p>
            <a:r>
              <a:rPr lang="en-GB" dirty="0" smtClean="0"/>
              <a:t>Scene graph models are rarely evaluated against </a:t>
            </a:r>
            <a:r>
              <a:rPr lang="en-GB" b="1" dirty="0" smtClean="0"/>
              <a:t>human attentional organization</a:t>
            </a:r>
            <a:endParaRPr lang="en-GB" dirty="0" smtClean="0"/>
          </a:p>
          <a:p>
            <a:r>
              <a:rPr lang="en-GB" dirty="0" smtClean="0"/>
              <a:t>Gaze prediction models often ignore </a:t>
            </a:r>
            <a:r>
              <a:rPr lang="en-GB" b="1" dirty="0" smtClean="0"/>
              <a:t>explicit object relations</a:t>
            </a:r>
            <a:endParaRPr lang="en-GB" dirty="0" smtClean="0"/>
          </a:p>
          <a:p>
            <a:r>
              <a:rPr lang="en-GB" dirty="0" smtClean="0"/>
              <a:t>Event-level structure is largely missing from both domains</a:t>
            </a:r>
          </a:p>
          <a:p>
            <a:r>
              <a:rPr lang="en-GB" dirty="0" smtClean="0"/>
              <a:t>This project directly addresses these gaps by asking:</a:t>
            </a:r>
          </a:p>
          <a:p>
            <a:r>
              <a:rPr lang="en-GB" b="1" dirty="0" smtClean="0"/>
              <a:t>How closely do predicted scene graph relations align with graph-based representations of human eye movements in dynamic scenes?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019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despite advances in both computer vision and cognitive science, three gaps remain:</a:t>
            </a:r>
          </a:p>
          <a:p>
            <a:r>
              <a:rPr lang="en-GB" dirty="0" smtClean="0"/>
              <a:t>Scene graph models are rarely evaluated against </a:t>
            </a:r>
            <a:r>
              <a:rPr lang="en-GB" b="1" dirty="0" smtClean="0"/>
              <a:t>human attentional organization</a:t>
            </a:r>
            <a:endParaRPr lang="en-GB" dirty="0" smtClean="0"/>
          </a:p>
          <a:p>
            <a:r>
              <a:rPr lang="en-GB" dirty="0" smtClean="0"/>
              <a:t>Gaze prediction models often ignore </a:t>
            </a:r>
            <a:r>
              <a:rPr lang="en-GB" b="1" dirty="0" smtClean="0"/>
              <a:t>explicit object relations</a:t>
            </a:r>
            <a:endParaRPr lang="en-GB" dirty="0" smtClean="0"/>
          </a:p>
          <a:p>
            <a:r>
              <a:rPr lang="en-GB" dirty="0" smtClean="0"/>
              <a:t>Event-level structure is largely missing from both domains</a:t>
            </a:r>
          </a:p>
          <a:p>
            <a:r>
              <a:rPr lang="en-GB" dirty="0" smtClean="0"/>
              <a:t>This project directly addresses these gaps by asking:</a:t>
            </a:r>
          </a:p>
          <a:p>
            <a:r>
              <a:rPr lang="en-GB" b="1" dirty="0" smtClean="0"/>
              <a:t>How closely do predicted scene graph relations align with graph-based representations of human eye movements in dynamic scenes?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523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. Graph-Based Representation of Human Gaze</a:t>
            </a:r>
          </a:p>
          <a:p>
            <a:r>
              <a:rPr lang="en-GB" dirty="0" smtClean="0"/>
              <a:t>Eye-tracking data is projected onto scene objects</a:t>
            </a:r>
          </a:p>
          <a:p>
            <a:r>
              <a:rPr lang="en-GB" dirty="0" smtClean="0"/>
              <a:t>Human </a:t>
            </a:r>
            <a:r>
              <a:rPr lang="en-GB" dirty="0" err="1" smtClean="0"/>
              <a:t>scanpaths</a:t>
            </a:r>
            <a:r>
              <a:rPr lang="en-GB" dirty="0" smtClean="0"/>
              <a:t> are represented as </a:t>
            </a:r>
            <a:r>
              <a:rPr lang="en-GB" b="1" dirty="0" smtClean="0"/>
              <a:t>attention graphs</a:t>
            </a:r>
            <a:endParaRPr lang="en-GB" dirty="0" smtClean="0"/>
          </a:p>
          <a:p>
            <a:pPr lvl="1"/>
            <a:r>
              <a:rPr lang="en-GB" dirty="0" smtClean="0"/>
              <a:t>nodes: objects</a:t>
            </a:r>
          </a:p>
          <a:p>
            <a:pPr lvl="1"/>
            <a:r>
              <a:rPr lang="en-GB" dirty="0" smtClean="0"/>
              <a:t>edges: gaze transitions</a:t>
            </a:r>
          </a:p>
          <a:p>
            <a:r>
              <a:rPr lang="en-GB" b="1" dirty="0" smtClean="0"/>
              <a:t>2. Scene Graph Generation</a:t>
            </a:r>
          </a:p>
          <a:p>
            <a:r>
              <a:rPr lang="en-GB" dirty="0" smtClean="0"/>
              <a:t>For the same visual scenes, scene graphs are generated using computer vision models</a:t>
            </a:r>
          </a:p>
          <a:p>
            <a:r>
              <a:rPr lang="en-GB" dirty="0" smtClean="0"/>
              <a:t>These graphs encode predicted object relations</a:t>
            </a:r>
          </a:p>
          <a:p>
            <a:r>
              <a:rPr lang="en-GB" b="1" dirty="0" smtClean="0"/>
              <a:t>3. Graph Alignment and Analysis</a:t>
            </a:r>
          </a:p>
          <a:p>
            <a:r>
              <a:rPr lang="en-GB" dirty="0" smtClean="0"/>
              <a:t>Structural and semantic correspondences between:</a:t>
            </a:r>
          </a:p>
          <a:p>
            <a:pPr lvl="1"/>
            <a:r>
              <a:rPr lang="en-GB" dirty="0" smtClean="0"/>
              <a:t>human attention graphs</a:t>
            </a:r>
          </a:p>
          <a:p>
            <a:pPr lvl="1"/>
            <a:r>
              <a:rPr lang="en-GB" dirty="0" smtClean="0"/>
              <a:t>predicted scene graphs</a:t>
            </a:r>
          </a:p>
          <a:p>
            <a:r>
              <a:rPr lang="en-GB" dirty="0" smtClean="0"/>
              <a:t>are quantitatively compared</a:t>
            </a:r>
          </a:p>
          <a:p>
            <a:r>
              <a:rPr lang="en-GB" dirty="0" smtClean="0"/>
              <a:t>This allows us to assess:</a:t>
            </a:r>
          </a:p>
          <a:p>
            <a:r>
              <a:rPr lang="en-GB" dirty="0" smtClean="0"/>
              <a:t>whether relations predicted by models reflect human perceptual organization</a:t>
            </a:r>
          </a:p>
          <a:p>
            <a:r>
              <a:rPr lang="en-GB" dirty="0" smtClean="0"/>
              <a:t>and whether these relations can improve </a:t>
            </a:r>
            <a:r>
              <a:rPr lang="en-GB" b="1" dirty="0" smtClean="0"/>
              <a:t>human </a:t>
            </a:r>
            <a:r>
              <a:rPr lang="en-GB" b="1" dirty="0" err="1" smtClean="0"/>
              <a:t>scanpath</a:t>
            </a:r>
            <a:r>
              <a:rPr lang="en-GB" b="1" dirty="0" smtClean="0"/>
              <a:t> prediction</a:t>
            </a:r>
            <a:endParaRPr lang="en-GB" dirty="0" smtClean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886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. Graph-Based Representation of Human Gaze</a:t>
            </a:r>
          </a:p>
          <a:p>
            <a:r>
              <a:rPr lang="en-GB" dirty="0" smtClean="0"/>
              <a:t>Eye-tracking data is projected onto scene objects</a:t>
            </a:r>
          </a:p>
          <a:p>
            <a:r>
              <a:rPr lang="en-GB" dirty="0" smtClean="0"/>
              <a:t>Human </a:t>
            </a:r>
            <a:r>
              <a:rPr lang="en-GB" dirty="0" err="1" smtClean="0"/>
              <a:t>scanpaths</a:t>
            </a:r>
            <a:r>
              <a:rPr lang="en-GB" dirty="0" smtClean="0"/>
              <a:t> are represented as </a:t>
            </a:r>
            <a:r>
              <a:rPr lang="en-GB" b="1" dirty="0" smtClean="0"/>
              <a:t>attention graphs</a:t>
            </a:r>
            <a:endParaRPr lang="en-GB" dirty="0" smtClean="0"/>
          </a:p>
          <a:p>
            <a:pPr lvl="1"/>
            <a:r>
              <a:rPr lang="en-GB" dirty="0" smtClean="0"/>
              <a:t>nodes: objects</a:t>
            </a:r>
          </a:p>
          <a:p>
            <a:pPr lvl="1"/>
            <a:r>
              <a:rPr lang="en-GB" dirty="0" smtClean="0"/>
              <a:t>edges: gaze transitions</a:t>
            </a:r>
          </a:p>
          <a:p>
            <a:r>
              <a:rPr lang="en-GB" b="1" dirty="0" smtClean="0"/>
              <a:t>2. Scene Graph Generation</a:t>
            </a:r>
          </a:p>
          <a:p>
            <a:r>
              <a:rPr lang="en-GB" dirty="0" smtClean="0"/>
              <a:t>For the same visual scenes, scene graphs are generated using computer vision models</a:t>
            </a:r>
          </a:p>
          <a:p>
            <a:r>
              <a:rPr lang="en-GB" dirty="0" smtClean="0"/>
              <a:t>These graphs encode predicted object relations</a:t>
            </a:r>
          </a:p>
          <a:p>
            <a:r>
              <a:rPr lang="en-GB" b="1" dirty="0" smtClean="0"/>
              <a:t>3. Graph Alignment and Analysis</a:t>
            </a:r>
          </a:p>
          <a:p>
            <a:r>
              <a:rPr lang="en-GB" dirty="0" smtClean="0"/>
              <a:t>Structural and semantic correspondences between:</a:t>
            </a:r>
          </a:p>
          <a:p>
            <a:pPr lvl="1"/>
            <a:r>
              <a:rPr lang="en-GB" dirty="0" smtClean="0"/>
              <a:t>human attention graphs</a:t>
            </a:r>
          </a:p>
          <a:p>
            <a:pPr lvl="1"/>
            <a:r>
              <a:rPr lang="en-GB" dirty="0" smtClean="0"/>
              <a:t>predicted scene graphs</a:t>
            </a:r>
          </a:p>
          <a:p>
            <a:r>
              <a:rPr lang="en-GB" dirty="0" smtClean="0"/>
              <a:t>are quantitatively compared</a:t>
            </a:r>
          </a:p>
          <a:p>
            <a:r>
              <a:rPr lang="en-GB" dirty="0" smtClean="0"/>
              <a:t>This allows us to assess:</a:t>
            </a:r>
          </a:p>
          <a:p>
            <a:r>
              <a:rPr lang="en-GB" dirty="0" smtClean="0"/>
              <a:t>whether relations predicted by models reflect human perceptual organization</a:t>
            </a:r>
          </a:p>
          <a:p>
            <a:r>
              <a:rPr lang="en-GB" dirty="0" smtClean="0"/>
              <a:t>and whether these relations can improve </a:t>
            </a:r>
            <a:r>
              <a:rPr lang="en-GB" b="1" dirty="0" smtClean="0"/>
              <a:t>human </a:t>
            </a:r>
            <a:r>
              <a:rPr lang="en-GB" b="1" dirty="0" err="1" smtClean="0"/>
              <a:t>scanpath</a:t>
            </a:r>
            <a:r>
              <a:rPr lang="en-GB" b="1" dirty="0" smtClean="0"/>
              <a:t> prediction</a:t>
            </a:r>
            <a:endParaRPr lang="en-GB" dirty="0" smtClean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056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. Graph-Based Representation of Human Gaze</a:t>
            </a:r>
          </a:p>
          <a:p>
            <a:r>
              <a:rPr lang="en-GB" dirty="0" smtClean="0"/>
              <a:t>Eye-tracking data is projected onto scene objects</a:t>
            </a:r>
          </a:p>
          <a:p>
            <a:r>
              <a:rPr lang="en-GB" dirty="0" smtClean="0"/>
              <a:t>Human </a:t>
            </a:r>
            <a:r>
              <a:rPr lang="en-GB" dirty="0" err="1" smtClean="0"/>
              <a:t>scanpaths</a:t>
            </a:r>
            <a:r>
              <a:rPr lang="en-GB" dirty="0" smtClean="0"/>
              <a:t> are represented as </a:t>
            </a:r>
            <a:r>
              <a:rPr lang="en-GB" b="1" dirty="0" smtClean="0"/>
              <a:t>attention graphs</a:t>
            </a:r>
            <a:endParaRPr lang="en-GB" dirty="0" smtClean="0"/>
          </a:p>
          <a:p>
            <a:pPr lvl="1"/>
            <a:r>
              <a:rPr lang="en-GB" dirty="0" smtClean="0"/>
              <a:t>nodes: objects</a:t>
            </a:r>
          </a:p>
          <a:p>
            <a:pPr lvl="1"/>
            <a:r>
              <a:rPr lang="en-GB" dirty="0" smtClean="0"/>
              <a:t>edges: gaze transitions</a:t>
            </a:r>
          </a:p>
          <a:p>
            <a:r>
              <a:rPr lang="en-GB" b="1" dirty="0" smtClean="0"/>
              <a:t>2. Scene Graph Generation</a:t>
            </a:r>
          </a:p>
          <a:p>
            <a:r>
              <a:rPr lang="en-GB" dirty="0" smtClean="0"/>
              <a:t>For the same visual scenes, scene graphs are generated using computer vision models</a:t>
            </a:r>
          </a:p>
          <a:p>
            <a:r>
              <a:rPr lang="en-GB" dirty="0" smtClean="0"/>
              <a:t>These graphs encode predicted object relations</a:t>
            </a:r>
          </a:p>
          <a:p>
            <a:r>
              <a:rPr lang="en-GB" b="1" dirty="0" smtClean="0"/>
              <a:t>3. Graph Alignment and Analysis</a:t>
            </a:r>
          </a:p>
          <a:p>
            <a:r>
              <a:rPr lang="en-GB" dirty="0" smtClean="0"/>
              <a:t>Structural and semantic correspondences between:</a:t>
            </a:r>
          </a:p>
          <a:p>
            <a:pPr lvl="1"/>
            <a:r>
              <a:rPr lang="en-GB" dirty="0" smtClean="0"/>
              <a:t>human attention graphs</a:t>
            </a:r>
          </a:p>
          <a:p>
            <a:pPr lvl="1"/>
            <a:r>
              <a:rPr lang="en-GB" dirty="0" smtClean="0"/>
              <a:t>predicted scene graphs</a:t>
            </a:r>
          </a:p>
          <a:p>
            <a:r>
              <a:rPr lang="en-GB" dirty="0" smtClean="0"/>
              <a:t>are quantitatively compared</a:t>
            </a:r>
          </a:p>
          <a:p>
            <a:r>
              <a:rPr lang="en-GB" dirty="0" smtClean="0"/>
              <a:t>This allows us to assess:</a:t>
            </a:r>
          </a:p>
          <a:p>
            <a:r>
              <a:rPr lang="en-GB" dirty="0" smtClean="0"/>
              <a:t>whether relations predicted by models reflect human perceptual organization</a:t>
            </a:r>
          </a:p>
          <a:p>
            <a:r>
              <a:rPr lang="en-GB" dirty="0" smtClean="0"/>
              <a:t>and whether these relations can improve </a:t>
            </a:r>
            <a:r>
              <a:rPr lang="en-GB" b="1" dirty="0" smtClean="0"/>
              <a:t>human </a:t>
            </a:r>
            <a:r>
              <a:rPr lang="en-GB" b="1" dirty="0" err="1" smtClean="0"/>
              <a:t>scanpath</a:t>
            </a:r>
            <a:r>
              <a:rPr lang="en-GB" b="1" dirty="0" smtClean="0"/>
              <a:t> prediction</a:t>
            </a:r>
            <a:endParaRPr lang="en-GB" dirty="0" smtClean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700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Overall, this project bridges </a:t>
            </a:r>
            <a:r>
              <a:rPr lang="en-GB" b="1" dirty="0" smtClean="0"/>
              <a:t>scene graph generation</a:t>
            </a:r>
            <a:r>
              <a:rPr lang="en-GB" dirty="0" smtClean="0"/>
              <a:t>, </a:t>
            </a:r>
            <a:r>
              <a:rPr lang="en-GB" b="1" dirty="0" smtClean="0"/>
              <a:t>visual attention</a:t>
            </a:r>
            <a:r>
              <a:rPr lang="en-GB" dirty="0" smtClean="0"/>
              <a:t>, and </a:t>
            </a:r>
            <a:r>
              <a:rPr lang="en-GB" b="1" dirty="0" smtClean="0"/>
              <a:t>event perception</a:t>
            </a:r>
            <a:r>
              <a:rPr lang="en-GB" dirty="0" smtClean="0"/>
              <a:t>, providing a cognitively grounded framework for understanding dynamic scene representation.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DDAF-D73D-431A-8D61-EB89F47F7B6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225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4E3DC-2EDB-43F9-8758-0FFA8FD0237E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3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54919-36C7-4307-9457-B6C15110A81C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74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2FB1-58D0-433A-A83D-D7FAF4FC8B49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63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DA97-DAAD-4A9B-A3A8-0B73148BF74B}" type="datetime1">
              <a:rPr lang="en-GB" smtClean="0"/>
              <a:t>16/12/2025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27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FE52-0042-458B-A7B3-F8DFDE3D1D98}" type="datetime1">
              <a:rPr lang="en-GB" smtClean="0"/>
              <a:t>16/12/2025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44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99C91-6605-4E2D-99F6-541B901982DD}" type="datetime1">
              <a:rPr lang="en-GB" smtClean="0"/>
              <a:t>16/12/2025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53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24C5-606D-49DD-9C7F-8210349FE7E5}" type="datetime1">
              <a:rPr lang="en-GB" smtClean="0"/>
              <a:t>16/12/2025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25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6E86-1D3B-4384-BED7-3932BE9481DD}" type="datetime1">
              <a:rPr lang="en-GB" smtClean="0"/>
              <a:t>16/12/2025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544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0885-5B5C-496C-AC8A-7F6A58CAFFF9}" type="datetime1">
              <a:rPr lang="en-GB" smtClean="0"/>
              <a:t>16/12/2025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048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890-D899-46A2-AB41-C553D7114998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6729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44A7-B12E-4AC3-9D14-574275311E1D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72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3EAA8-8168-40B9-822B-08BB7F6174ED}" type="datetime1">
              <a:rPr lang="en-GB" smtClean="0"/>
              <a:t>16/12/2025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AB1CD-DFD3-49FE-A0C8-2622EAC3CE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14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7894" y="1488345"/>
            <a:ext cx="8781288" cy="1629981"/>
          </a:xfrm>
        </p:spPr>
        <p:txBody>
          <a:bodyPr>
            <a:normAutofit/>
          </a:bodyPr>
          <a:lstStyle/>
          <a:p>
            <a:r>
              <a:rPr lang="en-GB" sz="4000" b="1" dirty="0" smtClean="0"/>
              <a:t>Modelling Human Visual Attention in Dynamic Scenes</a:t>
            </a:r>
            <a:endParaRPr lang="de-DE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840" y="3489960"/>
            <a:ext cx="9363456" cy="2225040"/>
          </a:xfrm>
        </p:spPr>
        <p:txBody>
          <a:bodyPr>
            <a:noAutofit/>
          </a:bodyPr>
          <a:lstStyle/>
          <a:p>
            <a:r>
              <a:rPr lang="en-GB" dirty="0" smtClean="0"/>
              <a:t>Shokoofeh Hosseini</a:t>
            </a:r>
          </a:p>
          <a:p>
            <a:r>
              <a:rPr lang="en-GB" dirty="0" smtClean="0"/>
              <a:t>M.sc of Computational Neuroscience at BCCN</a:t>
            </a:r>
          </a:p>
          <a:p>
            <a:r>
              <a:rPr lang="en-GB" dirty="0" smtClean="0"/>
              <a:t>Supervisor: </a:t>
            </a:r>
            <a:r>
              <a:rPr lang="en-GB" dirty="0" err="1" smtClean="0"/>
              <a:t>Prof.Obermayer</a:t>
            </a:r>
            <a:endParaRPr lang="de-DE" dirty="0"/>
          </a:p>
          <a:p>
            <a:r>
              <a:rPr lang="en-GB" dirty="0" smtClean="0"/>
              <a:t>Women’s Retreat</a:t>
            </a:r>
          </a:p>
          <a:p>
            <a:r>
              <a:rPr lang="en-GB" dirty="0" smtClean="0"/>
              <a:t>Winter 2025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" y="252286"/>
            <a:ext cx="2400300" cy="14097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BE8-06E8-4ABA-9303-78072F546651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58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Visual Scene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2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3A1E-7E96-478D-850A-58C624CF603F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65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Visual Scene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5719" y="5172501"/>
            <a:ext cx="10508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Objects	</a:t>
            </a:r>
            <a:endParaRPr lang="de-DE" sz="6000" dirty="0"/>
          </a:p>
        </p:txBody>
      </p:sp>
      <p:sp>
        <p:nvSpPr>
          <p:cNvPr id="13" name="TextBox 12"/>
          <p:cNvSpPr txBox="1"/>
          <p:nvPr/>
        </p:nvSpPr>
        <p:spPr>
          <a:xfrm>
            <a:off x="5214249" y="2352470"/>
            <a:ext cx="1665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Cat</a:t>
            </a:r>
          </a:p>
          <a:p>
            <a:r>
              <a:rPr lang="en-GB" sz="4000" dirty="0" smtClean="0"/>
              <a:t>Sofa</a:t>
            </a:r>
          </a:p>
          <a:p>
            <a:r>
              <a:rPr lang="en-GB" sz="4000" dirty="0" smtClean="0"/>
              <a:t>Table </a:t>
            </a:r>
          </a:p>
          <a:p>
            <a:r>
              <a:rPr lang="en-GB" sz="4000" dirty="0" smtClean="0"/>
              <a:t>Lamp</a:t>
            </a:r>
            <a:endParaRPr lang="de-DE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3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3A1E-7E96-478D-850A-58C624CF603F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67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Visual Scene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5719" y="5172501"/>
            <a:ext cx="10508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Objects		Relations		</a:t>
            </a:r>
            <a:endParaRPr lang="de-DE" sz="6000" dirty="0"/>
          </a:p>
        </p:txBody>
      </p:sp>
      <p:sp>
        <p:nvSpPr>
          <p:cNvPr id="10" name="TextBox 9"/>
          <p:cNvSpPr txBox="1"/>
          <p:nvPr/>
        </p:nvSpPr>
        <p:spPr>
          <a:xfrm>
            <a:off x="5214249" y="2352470"/>
            <a:ext cx="1665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Cat</a:t>
            </a:r>
          </a:p>
          <a:p>
            <a:r>
              <a:rPr lang="en-GB" sz="4000" dirty="0" smtClean="0"/>
              <a:t>Sofa</a:t>
            </a:r>
          </a:p>
          <a:p>
            <a:r>
              <a:rPr lang="en-GB" sz="4000" dirty="0" smtClean="0"/>
              <a:t>Table </a:t>
            </a:r>
          </a:p>
          <a:p>
            <a:r>
              <a:rPr lang="en-GB" sz="4000" dirty="0" smtClean="0"/>
              <a:t>Lamp</a:t>
            </a:r>
            <a:endParaRPr lang="de-DE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7383439" y="2202344"/>
            <a:ext cx="1665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On</a:t>
            </a:r>
          </a:p>
          <a:p>
            <a:r>
              <a:rPr lang="en-GB" sz="4000" dirty="0" smtClean="0"/>
              <a:t>Above</a:t>
            </a:r>
          </a:p>
          <a:p>
            <a:r>
              <a:rPr lang="en-GB" sz="4000" dirty="0" smtClean="0"/>
              <a:t>Under</a:t>
            </a:r>
          </a:p>
          <a:p>
            <a:r>
              <a:rPr lang="en-GB" sz="4000" dirty="0" smtClean="0"/>
              <a:t>Beside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4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A022-5FBD-4CA6-A244-D63736545A19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96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Visual Scene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5719" y="5172501"/>
            <a:ext cx="10508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Objects		Relations		events</a:t>
            </a:r>
            <a:endParaRPr lang="de-DE" sz="6000" dirty="0"/>
          </a:p>
        </p:txBody>
      </p:sp>
      <p:sp>
        <p:nvSpPr>
          <p:cNvPr id="10" name="TextBox 9"/>
          <p:cNvSpPr txBox="1"/>
          <p:nvPr/>
        </p:nvSpPr>
        <p:spPr>
          <a:xfrm>
            <a:off x="5214249" y="2329718"/>
            <a:ext cx="1665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Cat</a:t>
            </a:r>
          </a:p>
          <a:p>
            <a:r>
              <a:rPr lang="en-GB" sz="4000" dirty="0" smtClean="0"/>
              <a:t>Sofa</a:t>
            </a:r>
          </a:p>
          <a:p>
            <a:r>
              <a:rPr lang="en-GB" sz="4000" dirty="0" smtClean="0"/>
              <a:t>Table </a:t>
            </a:r>
          </a:p>
          <a:p>
            <a:r>
              <a:rPr lang="en-GB" sz="4000" dirty="0" smtClean="0"/>
              <a:t>Lamp</a:t>
            </a:r>
            <a:endParaRPr lang="de-DE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7383439" y="2202344"/>
            <a:ext cx="16650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On</a:t>
            </a:r>
          </a:p>
          <a:p>
            <a:r>
              <a:rPr lang="en-GB" sz="4000" dirty="0" smtClean="0"/>
              <a:t>Above</a:t>
            </a:r>
          </a:p>
          <a:p>
            <a:r>
              <a:rPr lang="en-GB" sz="4000" dirty="0" smtClean="0"/>
              <a:t>Under</a:t>
            </a:r>
          </a:p>
          <a:p>
            <a:r>
              <a:rPr lang="en-GB" sz="4000" dirty="0" smtClean="0"/>
              <a:t>Beside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2629" y="2352470"/>
            <a:ext cx="2361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Sitting</a:t>
            </a:r>
          </a:p>
          <a:p>
            <a:r>
              <a:rPr lang="en-GB" sz="4000" dirty="0" smtClean="0"/>
              <a:t>Seeing</a:t>
            </a:r>
          </a:p>
          <a:p>
            <a:r>
              <a:rPr lang="en-GB" sz="4000" dirty="0" smtClean="0"/>
              <a:t>Lightening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5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2F1F-596B-4903-8914-A1DB815948E6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344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352"/>
            <a:ext cx="10515600" cy="1325563"/>
          </a:xfrm>
        </p:spPr>
        <p:txBody>
          <a:bodyPr/>
          <a:lstStyle/>
          <a:p>
            <a:r>
              <a:rPr lang="en-GB" dirty="0" smtClean="0"/>
              <a:t>Scene Graph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5719" y="5172501"/>
            <a:ext cx="10508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Objects		Relations		events</a:t>
            </a:r>
            <a:endParaRPr lang="de-DE" sz="6000" dirty="0"/>
          </a:p>
        </p:txBody>
      </p:sp>
      <p:sp>
        <p:nvSpPr>
          <p:cNvPr id="3" name="Oval 2"/>
          <p:cNvSpPr/>
          <p:nvPr/>
        </p:nvSpPr>
        <p:spPr>
          <a:xfrm>
            <a:off x="9400464" y="1595174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13" name="Oval 12"/>
          <p:cNvSpPr/>
          <p:nvPr/>
        </p:nvSpPr>
        <p:spPr>
          <a:xfrm>
            <a:off x="6570426" y="1595174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14" name="Oval 13"/>
          <p:cNvSpPr/>
          <p:nvPr/>
        </p:nvSpPr>
        <p:spPr>
          <a:xfrm>
            <a:off x="9400464" y="3383837"/>
            <a:ext cx="1351128" cy="119589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Sofa</a:t>
            </a:r>
            <a:endParaRPr lang="de-DE" dirty="0"/>
          </a:p>
        </p:txBody>
      </p:sp>
      <p:sp>
        <p:nvSpPr>
          <p:cNvPr id="15" name="Oval 14"/>
          <p:cNvSpPr/>
          <p:nvPr/>
        </p:nvSpPr>
        <p:spPr>
          <a:xfrm>
            <a:off x="6570426" y="3383837"/>
            <a:ext cx="1351128" cy="119589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Table</a:t>
            </a:r>
            <a:endParaRPr lang="de-DE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8798256" y="100240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3" idx="5"/>
            <a:endCxn id="14" idx="1"/>
          </p:cNvCxnSpPr>
          <p:nvPr/>
        </p:nvCxnSpPr>
        <p:spPr>
          <a:xfrm>
            <a:off x="7723686" y="2615934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" idx="3"/>
            <a:endCxn id="15" idx="7"/>
          </p:cNvCxnSpPr>
          <p:nvPr/>
        </p:nvCxnSpPr>
        <p:spPr>
          <a:xfrm flipH="1">
            <a:off x="7723686" y="2615934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3" idx="4"/>
            <a:endCxn id="15" idx="0"/>
          </p:cNvCxnSpPr>
          <p:nvPr/>
        </p:nvCxnSpPr>
        <p:spPr>
          <a:xfrm>
            <a:off x="7245990" y="2791069"/>
            <a:ext cx="0" cy="59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5" idx="6"/>
            <a:endCxn id="14" idx="2"/>
          </p:cNvCxnSpPr>
          <p:nvPr/>
        </p:nvCxnSpPr>
        <p:spPr>
          <a:xfrm>
            <a:off x="7921554" y="3981785"/>
            <a:ext cx="1478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" idx="0"/>
            <a:endCxn id="3" idx="4"/>
          </p:cNvCxnSpPr>
          <p:nvPr/>
        </p:nvCxnSpPr>
        <p:spPr>
          <a:xfrm flipV="1">
            <a:off x="10076028" y="2791069"/>
            <a:ext cx="0" cy="59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3" idx="2"/>
            <a:endCxn id="13" idx="6"/>
          </p:cNvCxnSpPr>
          <p:nvPr/>
        </p:nvCxnSpPr>
        <p:spPr>
          <a:xfrm flipH="1">
            <a:off x="7921554" y="2193122"/>
            <a:ext cx="1478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1588260">
            <a:off x="7818780" y="2515651"/>
            <a:ext cx="94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30" name="TextBox 29"/>
          <p:cNvSpPr txBox="1"/>
          <p:nvPr/>
        </p:nvSpPr>
        <p:spPr>
          <a:xfrm>
            <a:off x="8115773" y="1871546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31" name="TextBox 30"/>
          <p:cNvSpPr txBox="1"/>
          <p:nvPr/>
        </p:nvSpPr>
        <p:spPr>
          <a:xfrm>
            <a:off x="8224304" y="3702788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near</a:t>
            </a:r>
            <a:endParaRPr lang="de-DE" dirty="0"/>
          </a:p>
        </p:txBody>
      </p:sp>
      <p:sp>
        <p:nvSpPr>
          <p:cNvPr id="32" name="TextBox 31"/>
          <p:cNvSpPr txBox="1"/>
          <p:nvPr/>
        </p:nvSpPr>
        <p:spPr>
          <a:xfrm rot="19986408">
            <a:off x="8915803" y="2291770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33" name="TextBox 32"/>
          <p:cNvSpPr txBox="1"/>
          <p:nvPr/>
        </p:nvSpPr>
        <p:spPr>
          <a:xfrm rot="5400000">
            <a:off x="6277400" y="3103638"/>
            <a:ext cx="119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behind</a:t>
            </a:r>
            <a:endParaRPr lang="de-DE" dirty="0"/>
          </a:p>
        </p:txBody>
      </p:sp>
      <p:sp>
        <p:nvSpPr>
          <p:cNvPr id="34" name="TextBox 33"/>
          <p:cNvSpPr txBox="1"/>
          <p:nvPr/>
        </p:nvSpPr>
        <p:spPr>
          <a:xfrm rot="5400000">
            <a:off x="9880925" y="3088660"/>
            <a:ext cx="75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rear</a:t>
            </a:r>
            <a:endParaRPr lang="de-DE" dirty="0"/>
          </a:p>
        </p:txBody>
      </p:sp>
      <p:sp>
        <p:nvSpPr>
          <p:cNvPr id="53" name="Oval 52"/>
          <p:cNvSpPr/>
          <p:nvPr/>
        </p:nvSpPr>
        <p:spPr>
          <a:xfrm>
            <a:off x="9400464" y="1595359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54" name="Oval 53"/>
          <p:cNvSpPr/>
          <p:nvPr/>
        </p:nvSpPr>
        <p:spPr>
          <a:xfrm>
            <a:off x="6570426" y="1595359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55" name="TextBox 54"/>
          <p:cNvSpPr txBox="1"/>
          <p:nvPr/>
        </p:nvSpPr>
        <p:spPr>
          <a:xfrm>
            <a:off x="8115773" y="1871731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56" name="TextBox 55"/>
          <p:cNvSpPr txBox="1"/>
          <p:nvPr/>
        </p:nvSpPr>
        <p:spPr>
          <a:xfrm rot="19986408">
            <a:off x="8915803" y="2291955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57" name="TextBox 56"/>
          <p:cNvSpPr txBox="1"/>
          <p:nvPr/>
        </p:nvSpPr>
        <p:spPr>
          <a:xfrm rot="1588260">
            <a:off x="7818779" y="2515651"/>
            <a:ext cx="94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58" name="Oval 57"/>
          <p:cNvSpPr/>
          <p:nvPr/>
        </p:nvSpPr>
        <p:spPr>
          <a:xfrm>
            <a:off x="9400463" y="1595359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59" name="Oval 58"/>
          <p:cNvSpPr/>
          <p:nvPr/>
        </p:nvSpPr>
        <p:spPr>
          <a:xfrm>
            <a:off x="6570425" y="1595359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60" name="TextBox 59"/>
          <p:cNvSpPr txBox="1"/>
          <p:nvPr/>
        </p:nvSpPr>
        <p:spPr>
          <a:xfrm>
            <a:off x="8115772" y="1871731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61" name="TextBox 60"/>
          <p:cNvSpPr txBox="1"/>
          <p:nvPr/>
        </p:nvSpPr>
        <p:spPr>
          <a:xfrm rot="19986408">
            <a:off x="8915802" y="2291955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62" name="TextBox 61"/>
          <p:cNvSpPr txBox="1"/>
          <p:nvPr/>
        </p:nvSpPr>
        <p:spPr>
          <a:xfrm rot="5400000">
            <a:off x="6277400" y="3103639"/>
            <a:ext cx="119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behind</a:t>
            </a:r>
            <a:endParaRPr lang="de-DE" dirty="0"/>
          </a:p>
        </p:txBody>
      </p:sp>
      <p:sp>
        <p:nvSpPr>
          <p:cNvPr id="63" name="TextBox 62"/>
          <p:cNvSpPr txBox="1"/>
          <p:nvPr/>
        </p:nvSpPr>
        <p:spPr>
          <a:xfrm rot="1588260">
            <a:off x="7818779" y="2515652"/>
            <a:ext cx="94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64" name="Oval 63"/>
          <p:cNvSpPr/>
          <p:nvPr/>
        </p:nvSpPr>
        <p:spPr>
          <a:xfrm>
            <a:off x="9400463" y="1595360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65" name="Oval 64"/>
          <p:cNvSpPr/>
          <p:nvPr/>
        </p:nvSpPr>
        <p:spPr>
          <a:xfrm>
            <a:off x="6570425" y="1595360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66" name="TextBox 65"/>
          <p:cNvSpPr txBox="1"/>
          <p:nvPr/>
        </p:nvSpPr>
        <p:spPr>
          <a:xfrm>
            <a:off x="8115772" y="1871732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67" name="TextBox 66"/>
          <p:cNvSpPr txBox="1"/>
          <p:nvPr/>
        </p:nvSpPr>
        <p:spPr>
          <a:xfrm rot="19986408">
            <a:off x="8915802" y="2291956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73" name="Oval 72"/>
          <p:cNvSpPr/>
          <p:nvPr/>
        </p:nvSpPr>
        <p:spPr>
          <a:xfrm>
            <a:off x="9400463" y="3383837"/>
            <a:ext cx="1351128" cy="119589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Sofa</a:t>
            </a:r>
            <a:endParaRPr lang="de-DE" dirty="0"/>
          </a:p>
        </p:txBody>
      </p:sp>
      <p:sp>
        <p:nvSpPr>
          <p:cNvPr id="74" name="Oval 73"/>
          <p:cNvSpPr/>
          <p:nvPr/>
        </p:nvSpPr>
        <p:spPr>
          <a:xfrm>
            <a:off x="6570425" y="3383837"/>
            <a:ext cx="1351128" cy="119589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Table</a:t>
            </a:r>
            <a:endParaRPr lang="de-DE" dirty="0"/>
          </a:p>
        </p:txBody>
      </p:sp>
      <p:cxnSp>
        <p:nvCxnSpPr>
          <p:cNvPr id="75" name="Straight Connector 74"/>
          <p:cNvCxnSpPr>
            <a:endCxn id="73" idx="1"/>
          </p:cNvCxnSpPr>
          <p:nvPr/>
        </p:nvCxnSpPr>
        <p:spPr>
          <a:xfrm>
            <a:off x="7723685" y="2615934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endCxn id="74" idx="7"/>
          </p:cNvCxnSpPr>
          <p:nvPr/>
        </p:nvCxnSpPr>
        <p:spPr>
          <a:xfrm flipH="1">
            <a:off x="7723685" y="2615934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endCxn id="74" idx="0"/>
          </p:cNvCxnSpPr>
          <p:nvPr/>
        </p:nvCxnSpPr>
        <p:spPr>
          <a:xfrm>
            <a:off x="7245989" y="2791069"/>
            <a:ext cx="0" cy="59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4" idx="6"/>
            <a:endCxn id="73" idx="2"/>
          </p:cNvCxnSpPr>
          <p:nvPr/>
        </p:nvCxnSpPr>
        <p:spPr>
          <a:xfrm>
            <a:off x="7921553" y="3981785"/>
            <a:ext cx="1478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224303" y="3702788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near</a:t>
            </a:r>
            <a:endParaRPr lang="de-DE" dirty="0"/>
          </a:p>
        </p:txBody>
      </p:sp>
      <p:sp>
        <p:nvSpPr>
          <p:cNvPr id="80" name="TextBox 79"/>
          <p:cNvSpPr txBox="1"/>
          <p:nvPr/>
        </p:nvSpPr>
        <p:spPr>
          <a:xfrm rot="5400000">
            <a:off x="6277399" y="3103639"/>
            <a:ext cx="119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behind</a:t>
            </a:r>
            <a:endParaRPr lang="de-DE" dirty="0"/>
          </a:p>
        </p:txBody>
      </p:sp>
      <p:sp>
        <p:nvSpPr>
          <p:cNvPr id="81" name="TextBox 80"/>
          <p:cNvSpPr txBox="1"/>
          <p:nvPr/>
        </p:nvSpPr>
        <p:spPr>
          <a:xfrm rot="1588260">
            <a:off x="7818778" y="2515652"/>
            <a:ext cx="94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82" name="Oval 81"/>
          <p:cNvSpPr/>
          <p:nvPr/>
        </p:nvSpPr>
        <p:spPr>
          <a:xfrm>
            <a:off x="9400462" y="1595360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83" name="Oval 82"/>
          <p:cNvSpPr/>
          <p:nvPr/>
        </p:nvSpPr>
        <p:spPr>
          <a:xfrm>
            <a:off x="6570424" y="1595360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84" name="TextBox 83"/>
          <p:cNvSpPr txBox="1"/>
          <p:nvPr/>
        </p:nvSpPr>
        <p:spPr>
          <a:xfrm>
            <a:off x="8115771" y="1871732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85" name="TextBox 84"/>
          <p:cNvSpPr txBox="1"/>
          <p:nvPr/>
        </p:nvSpPr>
        <p:spPr>
          <a:xfrm rot="19986408">
            <a:off x="8915801" y="2291956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86" name="TextBox 85"/>
          <p:cNvSpPr txBox="1"/>
          <p:nvPr/>
        </p:nvSpPr>
        <p:spPr>
          <a:xfrm rot="5400000">
            <a:off x="9880925" y="3088661"/>
            <a:ext cx="75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rear</a:t>
            </a:r>
            <a:endParaRPr lang="de-DE" dirty="0"/>
          </a:p>
        </p:txBody>
      </p:sp>
      <p:sp>
        <p:nvSpPr>
          <p:cNvPr id="87" name="Oval 86"/>
          <p:cNvSpPr/>
          <p:nvPr/>
        </p:nvSpPr>
        <p:spPr>
          <a:xfrm>
            <a:off x="9400463" y="3383838"/>
            <a:ext cx="1351128" cy="119589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Sofa</a:t>
            </a:r>
            <a:endParaRPr lang="de-DE" dirty="0"/>
          </a:p>
        </p:txBody>
      </p:sp>
      <p:sp>
        <p:nvSpPr>
          <p:cNvPr id="88" name="Oval 87"/>
          <p:cNvSpPr/>
          <p:nvPr/>
        </p:nvSpPr>
        <p:spPr>
          <a:xfrm>
            <a:off x="6570425" y="3383838"/>
            <a:ext cx="1351128" cy="119589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Table</a:t>
            </a:r>
            <a:endParaRPr lang="de-DE" dirty="0"/>
          </a:p>
        </p:txBody>
      </p:sp>
      <p:cxnSp>
        <p:nvCxnSpPr>
          <p:cNvPr id="89" name="Straight Connector 88"/>
          <p:cNvCxnSpPr>
            <a:endCxn id="87" idx="1"/>
          </p:cNvCxnSpPr>
          <p:nvPr/>
        </p:nvCxnSpPr>
        <p:spPr>
          <a:xfrm>
            <a:off x="7723685" y="2615935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88" idx="7"/>
          </p:cNvCxnSpPr>
          <p:nvPr/>
        </p:nvCxnSpPr>
        <p:spPr>
          <a:xfrm flipH="1">
            <a:off x="7723685" y="2615935"/>
            <a:ext cx="1874646" cy="943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88" idx="0"/>
          </p:cNvCxnSpPr>
          <p:nvPr/>
        </p:nvCxnSpPr>
        <p:spPr>
          <a:xfrm>
            <a:off x="7245989" y="2791070"/>
            <a:ext cx="0" cy="592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88" idx="6"/>
            <a:endCxn id="87" idx="2"/>
          </p:cNvCxnSpPr>
          <p:nvPr/>
        </p:nvCxnSpPr>
        <p:spPr>
          <a:xfrm>
            <a:off x="7921553" y="3981786"/>
            <a:ext cx="1478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224303" y="3702789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near</a:t>
            </a:r>
            <a:endParaRPr lang="de-DE" dirty="0"/>
          </a:p>
        </p:txBody>
      </p:sp>
      <p:sp>
        <p:nvSpPr>
          <p:cNvPr id="94" name="TextBox 93"/>
          <p:cNvSpPr txBox="1"/>
          <p:nvPr/>
        </p:nvSpPr>
        <p:spPr>
          <a:xfrm rot="5400000">
            <a:off x="6277399" y="3103640"/>
            <a:ext cx="119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behind</a:t>
            </a:r>
            <a:endParaRPr lang="de-DE" dirty="0"/>
          </a:p>
        </p:txBody>
      </p:sp>
      <p:sp>
        <p:nvSpPr>
          <p:cNvPr id="95" name="TextBox 94"/>
          <p:cNvSpPr txBox="1"/>
          <p:nvPr/>
        </p:nvSpPr>
        <p:spPr>
          <a:xfrm rot="1588260">
            <a:off x="7818778" y="2515653"/>
            <a:ext cx="94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sp>
        <p:nvSpPr>
          <p:cNvPr id="96" name="Oval 95"/>
          <p:cNvSpPr/>
          <p:nvPr/>
        </p:nvSpPr>
        <p:spPr>
          <a:xfrm>
            <a:off x="9400462" y="1595361"/>
            <a:ext cx="1351128" cy="1195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Lamp</a:t>
            </a:r>
            <a:endParaRPr lang="de-DE" dirty="0"/>
          </a:p>
        </p:txBody>
      </p:sp>
      <p:sp>
        <p:nvSpPr>
          <p:cNvPr id="97" name="Oval 96"/>
          <p:cNvSpPr/>
          <p:nvPr/>
        </p:nvSpPr>
        <p:spPr>
          <a:xfrm>
            <a:off x="6570424" y="1595361"/>
            <a:ext cx="1351128" cy="119589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Cat</a:t>
            </a:r>
            <a:endParaRPr lang="de-DE" dirty="0"/>
          </a:p>
        </p:txBody>
      </p:sp>
      <p:sp>
        <p:nvSpPr>
          <p:cNvPr id="98" name="TextBox 97"/>
          <p:cNvSpPr txBox="1"/>
          <p:nvPr/>
        </p:nvSpPr>
        <p:spPr>
          <a:xfrm>
            <a:off x="8115771" y="1871733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front</a:t>
            </a:r>
            <a:endParaRPr lang="de-DE" dirty="0"/>
          </a:p>
        </p:txBody>
      </p:sp>
      <p:sp>
        <p:nvSpPr>
          <p:cNvPr id="99" name="TextBox 98"/>
          <p:cNvSpPr txBox="1"/>
          <p:nvPr/>
        </p:nvSpPr>
        <p:spPr>
          <a:xfrm rot="19986408">
            <a:off x="8915801" y="2291957"/>
            <a:ext cx="102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on</a:t>
            </a:r>
            <a:endParaRPr lang="de-DE" dirty="0"/>
          </a:p>
        </p:txBody>
      </p:sp>
      <p:grpSp>
        <p:nvGrpSpPr>
          <p:cNvPr id="114" name="Group 113"/>
          <p:cNvGrpSpPr/>
          <p:nvPr/>
        </p:nvGrpSpPr>
        <p:grpSpPr>
          <a:xfrm>
            <a:off x="6570424" y="1595174"/>
            <a:ext cx="4181167" cy="2984372"/>
            <a:chOff x="6570424" y="1595174"/>
            <a:chExt cx="4181167" cy="2984372"/>
          </a:xfrm>
        </p:grpSpPr>
        <p:sp>
          <p:nvSpPr>
            <p:cNvPr id="100" name="TextBox 99"/>
            <p:cNvSpPr txBox="1"/>
            <p:nvPr/>
          </p:nvSpPr>
          <p:spPr>
            <a:xfrm rot="5400000">
              <a:off x="9880925" y="3088474"/>
              <a:ext cx="759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rear</a:t>
              </a:r>
              <a:endParaRPr lang="de-DE" dirty="0"/>
            </a:p>
          </p:txBody>
        </p:sp>
        <p:sp>
          <p:nvSpPr>
            <p:cNvPr id="101" name="Oval 100"/>
            <p:cNvSpPr/>
            <p:nvPr/>
          </p:nvSpPr>
          <p:spPr>
            <a:xfrm>
              <a:off x="9400463" y="3383651"/>
              <a:ext cx="1351128" cy="119589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Sofa</a:t>
              </a:r>
              <a:endParaRPr lang="de-DE" dirty="0"/>
            </a:p>
          </p:txBody>
        </p:sp>
        <p:sp>
          <p:nvSpPr>
            <p:cNvPr id="102" name="Oval 101"/>
            <p:cNvSpPr/>
            <p:nvPr/>
          </p:nvSpPr>
          <p:spPr>
            <a:xfrm>
              <a:off x="6570425" y="3383651"/>
              <a:ext cx="1351128" cy="1195895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Table</a:t>
              </a:r>
              <a:endParaRPr lang="de-DE" dirty="0"/>
            </a:p>
          </p:txBody>
        </p:sp>
        <p:cxnSp>
          <p:nvCxnSpPr>
            <p:cNvPr id="103" name="Straight Connector 102"/>
            <p:cNvCxnSpPr>
              <a:endCxn id="101" idx="1"/>
            </p:cNvCxnSpPr>
            <p:nvPr/>
          </p:nvCxnSpPr>
          <p:spPr>
            <a:xfrm>
              <a:off x="7723685" y="2615748"/>
              <a:ext cx="1874646" cy="943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endCxn id="102" idx="7"/>
            </p:cNvCxnSpPr>
            <p:nvPr/>
          </p:nvCxnSpPr>
          <p:spPr>
            <a:xfrm flipH="1">
              <a:off x="7723685" y="2615748"/>
              <a:ext cx="1874646" cy="9430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endCxn id="102" idx="0"/>
            </p:cNvCxnSpPr>
            <p:nvPr/>
          </p:nvCxnSpPr>
          <p:spPr>
            <a:xfrm>
              <a:off x="7245989" y="2790883"/>
              <a:ext cx="0" cy="5927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02" idx="6"/>
              <a:endCxn id="101" idx="2"/>
            </p:cNvCxnSpPr>
            <p:nvPr/>
          </p:nvCxnSpPr>
          <p:spPr>
            <a:xfrm>
              <a:off x="7921553" y="3981599"/>
              <a:ext cx="147891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/>
            <p:cNvSpPr txBox="1"/>
            <p:nvPr/>
          </p:nvSpPr>
          <p:spPr>
            <a:xfrm>
              <a:off x="8224303" y="3702602"/>
              <a:ext cx="1025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near</a:t>
              </a:r>
              <a:endParaRPr lang="de-DE" dirty="0"/>
            </a:p>
          </p:txBody>
        </p:sp>
        <p:sp>
          <p:nvSpPr>
            <p:cNvPr id="108" name="TextBox 107"/>
            <p:cNvSpPr txBox="1"/>
            <p:nvPr/>
          </p:nvSpPr>
          <p:spPr>
            <a:xfrm rot="5400000">
              <a:off x="6277399" y="3103453"/>
              <a:ext cx="1195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behind</a:t>
              </a:r>
              <a:endParaRPr lang="de-DE" dirty="0"/>
            </a:p>
          </p:txBody>
        </p:sp>
        <p:sp>
          <p:nvSpPr>
            <p:cNvPr id="109" name="TextBox 108"/>
            <p:cNvSpPr txBox="1"/>
            <p:nvPr/>
          </p:nvSpPr>
          <p:spPr>
            <a:xfrm rot="1588260">
              <a:off x="7818778" y="2515466"/>
              <a:ext cx="941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on</a:t>
              </a:r>
              <a:endParaRPr lang="de-DE" dirty="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400462" y="1595174"/>
              <a:ext cx="1351128" cy="11958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Lamp</a:t>
              </a:r>
              <a:endParaRPr lang="de-DE" dirty="0"/>
            </a:p>
          </p:txBody>
        </p:sp>
        <p:sp>
          <p:nvSpPr>
            <p:cNvPr id="111" name="Oval 110"/>
            <p:cNvSpPr/>
            <p:nvPr/>
          </p:nvSpPr>
          <p:spPr>
            <a:xfrm>
              <a:off x="6570424" y="1595174"/>
              <a:ext cx="1351128" cy="119589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Cat</a:t>
              </a:r>
              <a:endParaRPr lang="de-DE" dirty="0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115771" y="1871546"/>
              <a:ext cx="1025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In front</a:t>
              </a:r>
              <a:endParaRPr lang="de-DE" dirty="0"/>
            </a:p>
          </p:txBody>
        </p:sp>
        <p:sp>
          <p:nvSpPr>
            <p:cNvPr id="113" name="TextBox 112"/>
            <p:cNvSpPr txBox="1"/>
            <p:nvPr/>
          </p:nvSpPr>
          <p:spPr>
            <a:xfrm rot="19986408">
              <a:off x="8915801" y="2291770"/>
              <a:ext cx="1025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on</a:t>
              </a:r>
              <a:endParaRPr lang="de-DE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6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AA03D-70C9-4415-BF8C-ECF9DFA306FF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30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Motivation</a:t>
            </a:r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801"/>
            <a:ext cx="4059405" cy="30036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844" y="1977801"/>
            <a:ext cx="5150874" cy="28808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5104772"/>
            <a:ext cx="105178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/>
              <a:t>To what extent do scene graph representations generated by computer vision models align with human visual attention patterns</a:t>
            </a:r>
            <a:endParaRPr lang="de-DE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7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68C5B-37DF-48AB-806C-CF472D7B8CF9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75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Concept Graph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4794771" y="6086740"/>
            <a:ext cx="1610435" cy="38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Gu</a:t>
            </a:r>
            <a:r>
              <a:rPr lang="en-GB" dirty="0" smtClean="0"/>
              <a:t>, </a:t>
            </a:r>
            <a:r>
              <a:rPr lang="en-GB" dirty="0" err="1" smtClean="0"/>
              <a:t>Qiao</a:t>
            </a:r>
            <a:r>
              <a:rPr lang="en-GB" dirty="0" smtClean="0"/>
              <a:t>, et al. </a:t>
            </a:r>
            <a:endParaRPr lang="de-DE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16" y="1690688"/>
            <a:ext cx="9576944" cy="410961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8</a:t>
            </a:fld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90C8-7E99-4A8F-8DD6-424CFC2D45D4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19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Graph-based Attention</a:t>
            </a:r>
            <a:endParaRPr lang="de-D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722" y="1690688"/>
            <a:ext cx="5986534" cy="4396052"/>
          </a:xfrm>
        </p:spPr>
      </p:pic>
      <p:sp>
        <p:nvSpPr>
          <p:cNvPr id="5" name="TextBox 4"/>
          <p:cNvSpPr txBox="1"/>
          <p:nvPr/>
        </p:nvSpPr>
        <p:spPr>
          <a:xfrm>
            <a:off x="4692413" y="6086740"/>
            <a:ext cx="181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Kai-Fu Yang</a:t>
            </a:r>
            <a:r>
              <a:rPr lang="de-DE" dirty="0" smtClean="0"/>
              <a:t> et al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9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3055-D814-45D0-AC38-61F4898EE343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14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Dynamic Scenes, Event-Type (Visual Verbs)</a:t>
            </a:r>
            <a:endParaRPr lang="de-D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060" y="2715227"/>
            <a:ext cx="9847880" cy="2989535"/>
          </a:xfrm>
        </p:spPr>
      </p:pic>
      <p:sp>
        <p:nvSpPr>
          <p:cNvPr id="5" name="TextBox 4"/>
          <p:cNvSpPr txBox="1"/>
          <p:nvPr/>
        </p:nvSpPr>
        <p:spPr>
          <a:xfrm>
            <a:off x="5277134" y="6018662"/>
            <a:ext cx="1637732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Huichao Ji</a:t>
            </a:r>
            <a:r>
              <a:rPr lang="de-DE" dirty="0" smtClean="0"/>
              <a:t> et al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10</a:t>
            </a:fld>
            <a:endParaRPr lang="de-DE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E2E5-FA0F-4892-A090-6D423CD07855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08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Gap: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Scene graph models are rarely evaluated against </a:t>
            </a:r>
            <a:r>
              <a:rPr lang="en-GB" b="1" dirty="0" smtClean="0"/>
              <a:t>human attentional organization</a:t>
            </a:r>
          </a:p>
          <a:p>
            <a:pPr marL="0" indent="0">
              <a:buNone/>
            </a:pPr>
            <a:endParaRPr lang="en-GB" b="1" dirty="0" smtClean="0"/>
          </a:p>
          <a:p>
            <a:r>
              <a:rPr lang="en-GB" dirty="0" smtClean="0"/>
              <a:t>Gaze prediction models often ignore </a:t>
            </a:r>
            <a:r>
              <a:rPr lang="en-GB" b="1" dirty="0" smtClean="0"/>
              <a:t>explicit object relations</a:t>
            </a:r>
          </a:p>
          <a:p>
            <a:endParaRPr lang="en-GB" b="1" dirty="0" smtClean="0"/>
          </a:p>
          <a:p>
            <a:r>
              <a:rPr lang="en-GB" dirty="0" smtClean="0"/>
              <a:t>Event-level structure is largely missing from both domains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11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DF5CF-526B-4CFB-89D4-88D36CB4AB0E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90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Gap: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Scene graph models are rarely evaluated against </a:t>
            </a:r>
            <a:r>
              <a:rPr lang="en-GB" b="1" dirty="0" smtClean="0"/>
              <a:t>human attentional organization</a:t>
            </a:r>
          </a:p>
          <a:p>
            <a:r>
              <a:rPr lang="en-GB" dirty="0" smtClean="0"/>
              <a:t>Gaze prediction models often ignore </a:t>
            </a:r>
            <a:r>
              <a:rPr lang="en-GB" b="1" dirty="0" smtClean="0"/>
              <a:t>explicit object relations</a:t>
            </a:r>
          </a:p>
          <a:p>
            <a:r>
              <a:rPr lang="en-GB" dirty="0" smtClean="0"/>
              <a:t>Event-level structure is largely missing from both domains</a:t>
            </a: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This project directly addresses these gaps by asking:</a:t>
            </a:r>
          </a:p>
          <a:p>
            <a:r>
              <a:rPr lang="en-GB" b="1" dirty="0" smtClean="0"/>
              <a:t>How closely do predicted scene graph relations align with graph-based representations of human eye movements in dynamic scenes?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12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27F7-1CBB-4FD6-93F5-1B04A2E49E0A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69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Proposed Method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Graph-Based Representation of Human Gaze</a:t>
            </a:r>
          </a:p>
          <a:p>
            <a:pPr lvl="1"/>
            <a:r>
              <a:rPr lang="en-GB" dirty="0" smtClean="0"/>
              <a:t>Create attentional graph based on eye movement data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13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EFAAD-9E2B-4024-9CA2-844A6053ECDD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16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Proposed Method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Graph-Based Representation of Human Gaze</a:t>
            </a:r>
          </a:p>
          <a:p>
            <a:pPr lvl="1"/>
            <a:r>
              <a:rPr lang="en-GB" dirty="0" smtClean="0"/>
              <a:t>Create attentional graph based on eye movement data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de-DE" dirty="0" smtClean="0"/>
              <a:t>Scene Graph Generation</a:t>
            </a:r>
          </a:p>
          <a:p>
            <a:pPr lvl="1"/>
            <a:r>
              <a:rPr lang="de-DE" dirty="0" smtClean="0"/>
              <a:t>Using computer vision models which encode predicted object relations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14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0A4F-FA2B-4465-AAE4-3453F27642CE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037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Proposed Method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Graph-Based Representation of Human Gaze</a:t>
            </a:r>
          </a:p>
          <a:p>
            <a:pPr lvl="1"/>
            <a:r>
              <a:rPr lang="en-GB" dirty="0" smtClean="0"/>
              <a:t>Create attentional graph based on eye movement data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de-DE" dirty="0" smtClean="0"/>
              <a:t>Scene Graph Generation</a:t>
            </a:r>
          </a:p>
          <a:p>
            <a:pPr lvl="1"/>
            <a:r>
              <a:rPr lang="de-DE" dirty="0" smtClean="0"/>
              <a:t>Using computer vision models which encode predicted object relations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r>
              <a:rPr lang="en-GB" dirty="0" smtClean="0"/>
              <a:t>Graph Alignment and Analysis</a:t>
            </a:r>
          </a:p>
          <a:p>
            <a:pPr lvl="1"/>
            <a:r>
              <a:rPr lang="en-GB" dirty="0" smtClean="0"/>
              <a:t>Human attention graphs</a:t>
            </a:r>
          </a:p>
          <a:p>
            <a:pPr lvl="1"/>
            <a:r>
              <a:rPr lang="en-GB" dirty="0" smtClean="0"/>
              <a:t>Predicted scene graphs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15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676B-2B86-40CB-951A-62C2C62A51C1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664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Expected Contribution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de-DE" altLang="de-DE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gaze in dynamic scenes is guided by </a:t>
            </a:r>
            <a:r>
              <a:rPr kumimoji="0" lang="de-DE" altLang="de-DE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relations and event structure</a:t>
            </a:r>
          </a:p>
          <a:p>
            <a:endParaRPr kumimoji="0" lang="de-DE" altLang="de-DE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de-DE" altLang="de-DE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 graph representations can be evaluated through </a:t>
            </a:r>
            <a:r>
              <a:rPr kumimoji="0" lang="de-DE" altLang="de-DE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 with human attention</a:t>
            </a:r>
          </a:p>
          <a:p>
            <a:endParaRPr kumimoji="0" lang="de-DE" altLang="de-DE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de-DE" altLang="de-DE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Integrating attentional data may improve scene graph models and vice versa</a:t>
            </a:r>
          </a:p>
          <a:p>
            <a:endParaRPr kumimoji="0" lang="de-DE" altLang="de-DE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de-DE" altLang="de-DE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16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1626-3785-4DB9-9AD2-CD0783697CE8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1483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" y="153606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6600" dirty="0" smtClean="0"/>
              <a:t>Thanks for your Attention</a:t>
            </a:r>
          </a:p>
          <a:p>
            <a:pPr algn="ctr"/>
            <a:endParaRPr lang="en-GB" sz="6600" dirty="0"/>
          </a:p>
          <a:p>
            <a:pPr marL="0" indent="0" algn="ctr">
              <a:buNone/>
            </a:pPr>
            <a:r>
              <a:rPr lang="en-GB" sz="6600" dirty="0" smtClean="0"/>
              <a:t>Any Question?</a:t>
            </a:r>
            <a:endParaRPr lang="de-DE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AB1CD-DFD3-49FE-A0C8-2622EAC3CEC0}" type="slidenum">
              <a:rPr lang="de-DE" smtClean="0"/>
              <a:t>17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C72FB-BBC8-4F63-840C-C2FDD7A9DFE5}" type="datetime1">
              <a:rPr lang="en-GB" smtClean="0"/>
              <a:t>16/12/2025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87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1353</Words>
  <Application>Microsoft Office PowerPoint</Application>
  <PresentationFormat>Widescreen</PresentationFormat>
  <Paragraphs>305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Modelling Human Visual Attention in Dynamic Scenes</vt:lpstr>
      <vt:lpstr>Visual Scene</vt:lpstr>
      <vt:lpstr>Visual Scene</vt:lpstr>
      <vt:lpstr>Visual Scene</vt:lpstr>
      <vt:lpstr>Visual Scene</vt:lpstr>
      <vt:lpstr>Scene Graph</vt:lpstr>
      <vt:lpstr>Motivation</vt:lpstr>
      <vt:lpstr>Concept Graph</vt:lpstr>
      <vt:lpstr>Graph-based Attention</vt:lpstr>
      <vt:lpstr>Dynamic Scenes, Event-Type (Visual Verbs)</vt:lpstr>
      <vt:lpstr>Research Gap:</vt:lpstr>
      <vt:lpstr>Research Gap:</vt:lpstr>
      <vt:lpstr>Proposed Method</vt:lpstr>
      <vt:lpstr>Proposed Method</vt:lpstr>
      <vt:lpstr>Proposed Method</vt:lpstr>
      <vt:lpstr>Expected Contribution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Scene Graph Representations with Human Visual Attention in Dynamic Scenes</dc:title>
  <dc:creator>Microsoft account</dc:creator>
  <cp:lastModifiedBy>Microsoft account</cp:lastModifiedBy>
  <cp:revision>31</cp:revision>
  <dcterms:created xsi:type="dcterms:W3CDTF">2025-12-13T15:53:20Z</dcterms:created>
  <dcterms:modified xsi:type="dcterms:W3CDTF">2025-12-16T11:16:09Z</dcterms:modified>
</cp:coreProperties>
</file>